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各位老师、同学好，我是第 4 组的何易。今天由我代表小组汇报第二周的进展，也就是第二次阶段性评审。这一周我们主要做了两件事：第一，把 Sprint 1 的交付物在真实运行环境下重新复测了一遍；第二，补齐界面截图和演示视频，作为可验证的证据。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先说本周的定位。Sprint 1 的功能在上一周已经交付，这一周我们不再新增功能，而是做复测和证据补齐。评审依据有四项：把前后端重新跑起来、执行接口自检脚本、用浏览器截关键页面、再核对之前的测试报告和端到端记录。目标就是证明：交付物在今天的机器上仍然能完整跑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这是 Sprint 1 定下的八项目标，我们逐条对照。可以看到全部是「已达成」，右边是对应的验证证据编号。我想强调，这不是凭感觉打勾，每一条都能落到具体的测试用例或者截图上。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接口是我最看重的证据。我们重新跑了 verify-api.ps1，一共 14 个断言，0 失败，覆盖 TC-01 到 TC-13 十三个用例。左边是主链路的覆盖，右边是几条最容易出错的规则：非队首不能交易、冻结期不能再收新意向、成交后口令码必须失效。这些都实测通过。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这是买家端的两张实拍。左边首页，全站只有这一件商品，价格、库存、购买入口都在；右边是凭口令码查询页，输入码就能看到自己排第几位。买家全程不需要注册。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卖家端三张：登录页、商品管理页、意向管理页。商品管理页能看到「单品单卖，同一时刻仅允许 1 件在售」的提示；意向管理页里我真实提交了三条意向，位次 1、2、3 很清楚，而且界面特意标明卖家看不到买家的口令码。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除了截图，我们还录了一段完整的操作走查，已经用 Git LFS 传到仓库，大约 112 MB。大家可以在 GitHub 里直接点开看，或者用下面这个链接。Wiki 的第二次评审页面里也挂了同一个链接。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任务完成情况：第一次评审的 15 项任务都保持完成状态。这一周额外补了两类工作，测试同学负责复测和截图，我负责文档、报告和 Wiki 页面。产出包括 5 张截图、1 段视频和这份第二次评审报告。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遗留项我如实列出，一共五类：历史浏览页前端没做、统计看板接口有但前端没接、口令码终态命名口径要统一、并发没压测、录屏没做。它们都不影响核心闭环，已经写进第二次评审报告，后续按排期决定。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这一页是课程的挑战升级，现在两项都已完成实现并通过接口联调，提交号 4f2fde7。A.1 商品管理：从单品单卖升级为多商品、二级分类、真实库存、浏览加搜索、多图和富媒体描述，成交会扣库存，库存归零自动下架。A.2 客户升级：买家可注册账号、查看历史下单，商家也能查看客户和购买历史。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最后做个结论。左边是已经达成的能力，中间是支撑结论的证据：14 项接口断言、5 张截图、视频和报告；右边是后续要关注的五项。一句话总结：Sprint 1 的单品单卖闭环已经完整实现、实测通过，八项目标全部达成，本周以复测和证据补齐正式收尾。我的汇报到这里，谢谢大家，欢迎提问。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B26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57200" cy="5143500"/>
          </a:xfrm>
          <a:prstGeom prst="rect">
            <a:avLst/>
          </a:prstGeom>
          <a:solidFill>
            <a:srgbClr val="B85042"/>
          </a:solidFill>
          <a:ln/>
        </p:spPr>
      </p:sp>
      <p:sp>
        <p:nvSpPr>
          <p:cNvPr id="3" name="Shape 1"/>
          <p:cNvSpPr/>
          <p:nvPr/>
        </p:nvSpPr>
        <p:spPr>
          <a:xfrm>
            <a:off x="868680" y="1005840"/>
            <a:ext cx="118872" cy="2011680"/>
          </a:xfrm>
          <a:prstGeom prst="rect">
            <a:avLst/>
          </a:prstGeom>
          <a:solidFill>
            <a:srgbClr val="A7BEAE"/>
          </a:solidFill>
          <a:ln/>
        </p:spPr>
      </p:sp>
      <p:sp>
        <p:nvSpPr>
          <p:cNvPr id="4" name="Text 2"/>
          <p:cNvSpPr/>
          <p:nvPr/>
        </p:nvSpPr>
        <p:spPr>
          <a:xfrm>
            <a:off x="1188720" y="960120"/>
            <a:ext cx="7498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第二周 · 第二次阶段性评审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1188720" y="1737360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E7E8D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在线购物系统（挑战升级）· 单品单卖直销系统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1188720" y="2240280"/>
            <a:ext cx="7498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9A29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Sprint 1 收尾复测 · 讲述版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188720" y="2697480"/>
            <a:ext cx="7680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9B2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接口 14 项断言全部通过 · 5 张界面截图 · 演示视频已归档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1188720" y="4297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79E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软件工程课程设计 · 第 4 组　|　2026-10-22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BF8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"/>
          </a:xfrm>
          <a:prstGeom prst="rect">
            <a:avLst/>
          </a:prstGeom>
          <a:solidFill>
            <a:srgbClr val="B85042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37744"/>
            <a:ext cx="8229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B26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本周评审概览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69494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Sprint 1 已交付，本周对运行态做复测与证据补齐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3977640" cy="2240280"/>
          </a:xfrm>
          <a:prstGeom prst="rect">
            <a:avLst/>
          </a:prstGeom>
          <a:solidFill>
            <a:srgbClr val="FFFFFF"/>
          </a:solidFill>
          <a:ln w="9525">
            <a:solidFill>
              <a:srgbClr val="E3DDD4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188720"/>
            <a:ext cx="64008" cy="2240280"/>
          </a:xfrm>
          <a:prstGeom prst="rect">
            <a:avLst/>
          </a:prstGeom>
          <a:solidFill>
            <a:srgbClr val="B85042"/>
          </a:solidFill>
          <a:ln/>
        </p:spPr>
      </p:sp>
      <p:sp>
        <p:nvSpPr>
          <p:cNvPr id="7" name="Text 5"/>
          <p:cNvSpPr/>
          <p:nvPr/>
        </p:nvSpPr>
        <p:spPr>
          <a:xfrm>
            <a:off x="658368" y="1298448"/>
            <a:ext cx="3648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B26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评审依据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658368" y="1609344"/>
            <a:ext cx="3648456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50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4A42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后端 Spring Boot（:8080）与前端 Vue（:5173）重新拉起</a:t>
            </a:r>
            <a:endParaRPr lang="en-US" sz="1050" dirty="0"/>
          </a:p>
          <a:p>
            <a:pPr marL="342900" indent="-342900">
              <a:lnSpc>
                <a:spcPct val="1050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4A42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运行接口自检脚本 verify-api.ps1</a:t>
            </a:r>
            <a:endParaRPr lang="en-US" sz="1050" dirty="0"/>
          </a:p>
          <a:p>
            <a:pPr marL="342900" indent="-342900">
              <a:lnSpc>
                <a:spcPct val="1050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4A42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浏览器自动化对关键页面截图</a:t>
            </a:r>
            <a:endParaRPr lang="en-US" sz="1050" dirty="0"/>
          </a:p>
          <a:p>
            <a:pPr marL="342900" indent="-342900">
              <a:lnSpc>
                <a:spcPct val="1050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4A42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核对测试报告与端到端验证记录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709160" y="1188720"/>
            <a:ext cx="3977640" cy="2240280"/>
          </a:xfrm>
          <a:prstGeom prst="rect">
            <a:avLst/>
          </a:prstGeom>
          <a:solidFill>
            <a:srgbClr val="FFFFFF"/>
          </a:solidFill>
          <a:ln w="9525">
            <a:solidFill>
              <a:srgbClr val="E3DDD4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709160" y="1188720"/>
            <a:ext cx="64008" cy="2240280"/>
          </a:xfrm>
          <a:prstGeom prst="rect">
            <a:avLst/>
          </a:prstGeom>
          <a:solidFill>
            <a:srgbClr val="8E3B33"/>
          </a:solidFill>
          <a:ln/>
        </p:spPr>
      </p:sp>
      <p:sp>
        <p:nvSpPr>
          <p:cNvPr id="11" name="Text 9"/>
          <p:cNvSpPr/>
          <p:nvPr/>
        </p:nvSpPr>
        <p:spPr>
          <a:xfrm>
            <a:off x="4910328" y="1298448"/>
            <a:ext cx="3648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B26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本周目标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4910328" y="1609344"/>
            <a:ext cx="3648456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50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4A42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确认 Sprint 1 闭环在当前环境仍可复现</a:t>
            </a:r>
            <a:endParaRPr lang="en-US" sz="1050" dirty="0"/>
          </a:p>
          <a:p>
            <a:pPr marL="342900" indent="-342900">
              <a:lnSpc>
                <a:spcPct val="1050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4A42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用接口测试给出量化结论</a:t>
            </a:r>
            <a:endParaRPr lang="en-US" sz="1050" dirty="0"/>
          </a:p>
          <a:p>
            <a:pPr marL="342900" indent="-342900">
              <a:lnSpc>
                <a:spcPct val="1050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4A42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用界面截图与视频补齐演示证据</a:t>
            </a:r>
            <a:endParaRPr lang="en-US" sz="1050" dirty="0"/>
          </a:p>
          <a:p>
            <a:pPr marL="342900" indent="-342900">
              <a:lnSpc>
                <a:spcPct val="1050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4A42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梳理遗留项，为后续排期提供依据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57200" y="3657600"/>
            <a:ext cx="8229600" cy="777240"/>
          </a:xfrm>
          <a:prstGeom prst="rect">
            <a:avLst/>
          </a:prstGeom>
          <a:solidFill>
            <a:srgbClr val="E7E8D1"/>
          </a:solidFill>
          <a:ln/>
        </p:spPr>
      </p:sp>
      <p:sp>
        <p:nvSpPr>
          <p:cNvPr id="14" name="Text 12"/>
          <p:cNvSpPr/>
          <p:nvPr/>
        </p:nvSpPr>
        <p:spPr>
          <a:xfrm>
            <a:off x="658368" y="3657600"/>
            <a:ext cx="7863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B26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一句话：</a:t>
            </a:r>
            <a:pPr indent="0" marL="0">
              <a:buNone/>
            </a:pPr>
            <a:r>
              <a:rPr lang="en-US" sz="1100" dirty="0">
                <a:solidFill>
                  <a:srgbClr val="2B26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这一周不是新做功能，而是把「已交付的东西」用可复现、可验证的方式证明一遍。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8412480" y="4617720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BF8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"/>
          </a:xfrm>
          <a:prstGeom prst="rect">
            <a:avLst/>
          </a:prstGeom>
          <a:solidFill>
            <a:srgbClr val="A7BEAE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37744"/>
            <a:ext cx="8229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B26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迭代目标达成情况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69494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对照 Sprint 1 八项目标：全部达成</a:t>
            </a:r>
            <a:endParaRPr lang="en-US" sz="11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8229600" cy="914400"/>
        </p:xfrm>
        <a:graphic>
          <a:graphicData uri="http://schemas.openxmlformats.org/drawingml/2006/table">
            <a:tbl>
              <a:tblPr/>
              <a:tblGrid>
                <a:gridCol w="457200"/>
                <a:gridCol w="4023360"/>
                <a:gridCol w="1005840"/>
                <a:gridCol w="2743200"/>
              </a:tblGrid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#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8504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目标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8504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状态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8504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验证证据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85042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B26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B26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单品单卖：同一时刻最多 1 件在售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B26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已达成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B26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TC-04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B26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B26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商品四态状态机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B26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已达成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B26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TC-08 / 10 / 11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B26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B26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买家免注册提交意向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B26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已达成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B26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TC-03 / 05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B26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B26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口令码机制（查询/改信息/撤销/失效）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B26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已达成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B26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TC-05 / 12 / 13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B26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B26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先到先得队列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B26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已达成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B26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TC-06 / 07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B26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B26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交易结果登记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B26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已达成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B26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TC-10 / 11 / 12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B26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B26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卖家后台（登录/管理/改密/上传）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B26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已达成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B26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TC-01 / 02 + 截图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B26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B26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回归基线（移除购物车与订单）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B26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已达成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B26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截图 01 / 04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457200" y="4114800"/>
            <a:ext cx="8229600" cy="548640"/>
          </a:xfrm>
          <a:prstGeom prst="rect">
            <a:avLst/>
          </a:prstGeom>
          <a:solidFill>
            <a:srgbClr val="E7E8D1"/>
          </a:solidFill>
          <a:ln/>
        </p:spPr>
      </p:sp>
      <p:sp>
        <p:nvSpPr>
          <p:cNvPr id="7" name="Text 4"/>
          <p:cNvSpPr/>
          <p:nvPr/>
        </p:nvSpPr>
        <p:spPr>
          <a:xfrm>
            <a:off x="658368" y="411480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B26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结论：</a:t>
            </a:r>
            <a:pPr indent="0" marL="0">
              <a:buNone/>
            </a:pPr>
            <a:r>
              <a:rPr lang="en-US" sz="1100" dirty="0">
                <a:solidFill>
                  <a:srgbClr val="2B26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 项目标 100% 达成，核心链路端到端符合预期。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412480" y="4617720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BF8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"/>
          </a:xfrm>
          <a:prstGeom prst="rect">
            <a:avLst/>
          </a:prstGeom>
          <a:solidFill>
            <a:srgbClr val="8E3B33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37744"/>
            <a:ext cx="8229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B26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接口实例测试：14 项断言全部通过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69494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verify-api.ps1 · 0 失败 · 覆盖 TC-01 ~ TC-13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1965960" cy="960120"/>
          </a:xfrm>
          <a:prstGeom prst="rect">
            <a:avLst/>
          </a:prstGeom>
          <a:solidFill>
            <a:srgbClr val="FFFFFF"/>
          </a:solidFill>
          <a:ln w="9525">
            <a:solidFill>
              <a:srgbClr val="E3DDD4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457200" y="1261872"/>
            <a:ext cx="1965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6B8E7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457200" y="1755648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A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通过断言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2542032" y="1188720"/>
            <a:ext cx="1965960" cy="960120"/>
          </a:xfrm>
          <a:prstGeom prst="rect">
            <a:avLst/>
          </a:prstGeom>
          <a:solidFill>
            <a:srgbClr val="FFFFFF"/>
          </a:solidFill>
          <a:ln w="9525">
            <a:solidFill>
              <a:srgbClr val="E3DDD4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2542032" y="1261872"/>
            <a:ext cx="1965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6B8E7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2542032" y="1755648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A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失败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4626864" y="1188720"/>
            <a:ext cx="1965960" cy="960120"/>
          </a:xfrm>
          <a:prstGeom prst="rect">
            <a:avLst/>
          </a:prstGeom>
          <a:solidFill>
            <a:srgbClr val="FFFFFF"/>
          </a:solidFill>
          <a:ln w="9525">
            <a:solidFill>
              <a:srgbClr val="E3DDD4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626864" y="1261872"/>
            <a:ext cx="1965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B850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13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4626864" y="1755648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A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覆盖用例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6711696" y="1188720"/>
            <a:ext cx="1965960" cy="960120"/>
          </a:xfrm>
          <a:prstGeom prst="rect">
            <a:avLst/>
          </a:prstGeom>
          <a:solidFill>
            <a:srgbClr val="FFFFFF"/>
          </a:solidFill>
          <a:ln w="9525">
            <a:solidFill>
              <a:srgbClr val="E3DDD4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6711696" y="1261872"/>
            <a:ext cx="1965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8E3B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6711696" y="1755648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A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核心交易链路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457200" y="2377440"/>
            <a:ext cx="3977640" cy="1874520"/>
          </a:xfrm>
          <a:prstGeom prst="rect">
            <a:avLst/>
          </a:prstGeom>
          <a:solidFill>
            <a:srgbClr val="FFFFFF"/>
          </a:solidFill>
          <a:ln w="9525">
            <a:solidFill>
              <a:srgbClr val="E3DDD4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57200" y="2377440"/>
            <a:ext cx="64008" cy="1874520"/>
          </a:xfrm>
          <a:prstGeom prst="rect">
            <a:avLst/>
          </a:prstGeom>
          <a:solidFill>
            <a:srgbClr val="B85042"/>
          </a:solidFill>
          <a:ln/>
        </p:spPr>
      </p:sp>
      <p:sp>
        <p:nvSpPr>
          <p:cNvPr id="19" name="Text 17"/>
          <p:cNvSpPr/>
          <p:nvPr/>
        </p:nvSpPr>
        <p:spPr>
          <a:xfrm>
            <a:off x="658368" y="2487168"/>
            <a:ext cx="3648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B26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覆盖链路（节选）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658368" y="2798064"/>
            <a:ext cx="3648456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5000"/>
              </a:lnSpc>
              <a:spcAft>
                <a:spcPts val="300"/>
              </a:spcAft>
              <a:buSzPct val="100000"/>
              <a:buChar char="•"/>
            </a:pPr>
            <a:r>
              <a:rPr lang="en-US" sz="980" dirty="0">
                <a:solidFill>
                  <a:srgbClr val="4A42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未登录访问卖家接口 → 401</a:t>
            </a:r>
            <a:endParaRPr lang="en-US" sz="980" dirty="0"/>
          </a:p>
          <a:p>
            <a:pPr marL="342900" indent="-342900">
              <a:lnSpc>
                <a:spcPct val="105000"/>
              </a:lnSpc>
              <a:spcAft>
                <a:spcPts val="300"/>
              </a:spcAft>
              <a:buSzPct val="100000"/>
              <a:buChar char="•"/>
            </a:pPr>
            <a:r>
              <a:rPr lang="en-US" sz="980" dirty="0">
                <a:solidFill>
                  <a:srgbClr val="4A42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登录取 token → 读取在售商品</a:t>
            </a:r>
            <a:endParaRPr lang="en-US" sz="980" dirty="0"/>
          </a:p>
          <a:p>
            <a:pPr marL="342900" indent="-342900">
              <a:lnSpc>
                <a:spcPct val="105000"/>
              </a:lnSpc>
              <a:spcAft>
                <a:spcPts val="300"/>
              </a:spcAft>
              <a:buSzPct val="100000"/>
              <a:buChar char="•"/>
            </a:pPr>
            <a:r>
              <a:rPr lang="en-US" sz="980" dirty="0">
                <a:solidFill>
                  <a:srgbClr val="4A42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已有在售时禁止发布第二件</a:t>
            </a:r>
            <a:endParaRPr lang="en-US" sz="980" dirty="0"/>
          </a:p>
          <a:p>
            <a:pPr marL="342900" indent="-342900">
              <a:lnSpc>
                <a:spcPct val="105000"/>
              </a:lnSpc>
              <a:spcAft>
                <a:spcPts val="300"/>
              </a:spcAft>
              <a:buSzPct val="100000"/>
              <a:buChar char="•"/>
            </a:pPr>
            <a:r>
              <a:rPr lang="en-US" sz="980" dirty="0">
                <a:solidFill>
                  <a:srgbClr val="4A42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提交 3 条意向 → 位次 1/2/3</a:t>
            </a:r>
            <a:endParaRPr lang="en-US" sz="980" dirty="0"/>
          </a:p>
        </p:txBody>
      </p:sp>
      <p:sp>
        <p:nvSpPr>
          <p:cNvPr id="21" name="Shape 19"/>
          <p:cNvSpPr/>
          <p:nvPr/>
        </p:nvSpPr>
        <p:spPr>
          <a:xfrm>
            <a:off x="4709160" y="2377440"/>
            <a:ext cx="3977640" cy="1874520"/>
          </a:xfrm>
          <a:prstGeom prst="rect">
            <a:avLst/>
          </a:prstGeom>
          <a:solidFill>
            <a:srgbClr val="FFFFFF"/>
          </a:solidFill>
          <a:ln w="9525">
            <a:solidFill>
              <a:srgbClr val="E3DDD4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709160" y="2377440"/>
            <a:ext cx="64008" cy="1874520"/>
          </a:xfrm>
          <a:prstGeom prst="rect">
            <a:avLst/>
          </a:prstGeom>
          <a:solidFill>
            <a:srgbClr val="8E3B33"/>
          </a:solidFill>
          <a:ln/>
        </p:spPr>
      </p:sp>
      <p:sp>
        <p:nvSpPr>
          <p:cNvPr id="23" name="Text 21"/>
          <p:cNvSpPr/>
          <p:nvPr/>
        </p:nvSpPr>
        <p:spPr>
          <a:xfrm>
            <a:off x="4910328" y="2487168"/>
            <a:ext cx="3648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B26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关键规则（节选）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4910328" y="2798064"/>
            <a:ext cx="3648456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5000"/>
              </a:lnSpc>
              <a:spcAft>
                <a:spcPts val="300"/>
              </a:spcAft>
              <a:buSzPct val="100000"/>
              <a:buChar char="•"/>
            </a:pPr>
            <a:r>
              <a:rPr lang="en-US" sz="980" dirty="0">
                <a:solidFill>
                  <a:srgbClr val="4A42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非队首禁交易，队首交易自动冻结</a:t>
            </a:r>
            <a:endParaRPr lang="en-US" sz="980" dirty="0"/>
          </a:p>
          <a:p>
            <a:pPr marL="342900" indent="-342900">
              <a:lnSpc>
                <a:spcPct val="105000"/>
              </a:lnSpc>
              <a:spcAft>
                <a:spcPts val="300"/>
              </a:spcAft>
              <a:buSzPct val="100000"/>
              <a:buChar char="•"/>
            </a:pPr>
            <a:r>
              <a:rPr lang="en-US" sz="980" dirty="0">
                <a:solidFill>
                  <a:srgbClr val="4A42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冻结期拒绝新的购买意向</a:t>
            </a:r>
            <a:endParaRPr lang="en-US" sz="980" dirty="0"/>
          </a:p>
          <a:p>
            <a:pPr marL="342900" indent="-342900">
              <a:lnSpc>
                <a:spcPct val="105000"/>
              </a:lnSpc>
              <a:spcAft>
                <a:spcPts val="300"/>
              </a:spcAft>
              <a:buSzPct val="100000"/>
              <a:buChar char="•"/>
            </a:pPr>
            <a:r>
              <a:rPr lang="en-US" sz="980" dirty="0">
                <a:solidFill>
                  <a:srgbClr val="4A42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成交下架，其余意向离队</a:t>
            </a:r>
            <a:endParaRPr lang="en-US" sz="980" dirty="0"/>
          </a:p>
          <a:p>
            <a:pPr marL="342900" indent="-342900">
              <a:lnSpc>
                <a:spcPct val="105000"/>
              </a:lnSpc>
              <a:spcAft>
                <a:spcPts val="300"/>
              </a:spcAft>
              <a:buSzPct val="100000"/>
              <a:buChar char="•"/>
            </a:pPr>
            <a:r>
              <a:rPr lang="en-US" sz="980" dirty="0">
                <a:solidFill>
                  <a:srgbClr val="4A42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口令码失效，卖家侧不可见</a:t>
            </a:r>
            <a:endParaRPr lang="en-US" sz="980" dirty="0"/>
          </a:p>
        </p:txBody>
      </p:sp>
      <p:sp>
        <p:nvSpPr>
          <p:cNvPr id="25" name="Text 23"/>
          <p:cNvSpPr/>
          <p:nvPr/>
        </p:nvSpPr>
        <p:spPr>
          <a:xfrm>
            <a:off x="8412480" y="4617720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BF8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"/>
          </a:xfrm>
          <a:prstGeom prst="rect">
            <a:avLst/>
          </a:prstGeom>
          <a:solidFill>
            <a:srgbClr val="B85042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37744"/>
            <a:ext cx="8229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B26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界面验证 · 买家端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69494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浏览器实拍 · 对应 TC-03（在售商品）与 TC-06（凭码查询）</a:t>
            </a:r>
            <a:endParaRPr lang="en-US" sz="1100" dirty="0"/>
          </a:p>
        </p:txBody>
      </p:sp>
      <p:pic>
        <p:nvPicPr>
          <p:cNvPr id="5" name="Image 0" descr="c:\Users\yuanx\CodeBuddy\20260922075003\docs\wiki\screenshots\01-hom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97280"/>
            <a:ext cx="3931920" cy="2457450"/>
          </a:xfrm>
          <a:prstGeom prst="rect">
            <a:avLst/>
          </a:prstGeom>
        </p:spPr>
      </p:pic>
      <p:pic>
        <p:nvPicPr>
          <p:cNvPr id="6" name="Image 1" descr="c:\Users\yuanx\CodeBuddy\20260922075003\docs\wiki\screenshots\02-trac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0" y="1097280"/>
            <a:ext cx="3931920" cy="245745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457200" y="3611880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E3B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买家端首页：唯一在售商品与购买入口</a:t>
            </a:r>
            <a:endParaRPr lang="en-US" sz="1000" dirty="0"/>
          </a:p>
        </p:txBody>
      </p:sp>
      <p:sp>
        <p:nvSpPr>
          <p:cNvPr id="8" name="Text 4"/>
          <p:cNvSpPr/>
          <p:nvPr/>
        </p:nvSpPr>
        <p:spPr>
          <a:xfrm>
            <a:off x="4754880" y="3611880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E3B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凭口令码查询排队位次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457200" y="3977640"/>
            <a:ext cx="8229600" cy="640080"/>
          </a:xfrm>
          <a:prstGeom prst="rect">
            <a:avLst/>
          </a:prstGeom>
          <a:solidFill>
            <a:srgbClr val="E7E8D1"/>
          </a:solidFill>
          <a:ln/>
        </p:spPr>
      </p:sp>
      <p:sp>
        <p:nvSpPr>
          <p:cNvPr id="10" name="Text 6"/>
          <p:cNvSpPr/>
          <p:nvPr/>
        </p:nvSpPr>
        <p:spPr>
          <a:xfrm>
            <a:off x="658368" y="397764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B26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买家端只展示当前在售商品、不展示历史；提交意向即生成口令码，凭码可查位次、改信息、撤销。</a:t>
            </a:r>
            <a:endParaRPr lang="en-US" sz="1000" dirty="0"/>
          </a:p>
        </p:txBody>
      </p:sp>
      <p:sp>
        <p:nvSpPr>
          <p:cNvPr id="11" name="Text 7"/>
          <p:cNvSpPr/>
          <p:nvPr/>
        </p:nvSpPr>
        <p:spPr>
          <a:xfrm>
            <a:off x="8412480" y="4617720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BF8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"/>
          </a:xfrm>
          <a:prstGeom prst="rect">
            <a:avLst/>
          </a:prstGeom>
          <a:solidFill>
            <a:srgbClr val="8E3B33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37744"/>
            <a:ext cx="8229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B26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界面验证 · 卖家端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69494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登录 → 商品管理 → 意向管理 · 对应 TC-02 / 04 / 05-07 / 12</a:t>
            </a:r>
            <a:endParaRPr lang="en-US" sz="1100" dirty="0"/>
          </a:p>
        </p:txBody>
      </p:sp>
      <p:pic>
        <p:nvPicPr>
          <p:cNvPr id="5" name="Image 0" descr="c:\Users\yuanx\CodeBuddy\20260922075003\docs\wiki\screenshots\03-log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97280"/>
            <a:ext cx="2651760" cy="1657350"/>
          </a:xfrm>
          <a:prstGeom prst="rect">
            <a:avLst/>
          </a:prstGeom>
        </p:spPr>
      </p:pic>
      <p:pic>
        <p:nvPicPr>
          <p:cNvPr id="6" name="Image 1" descr="c:\Users\yuanx\CodeBuddy\20260922075003\docs\wiki\screenshots\04-seller-dashboar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46120" y="1097280"/>
            <a:ext cx="2651760" cy="1657350"/>
          </a:xfrm>
          <a:prstGeom prst="rect">
            <a:avLst/>
          </a:prstGeom>
        </p:spPr>
      </p:pic>
      <p:pic>
        <p:nvPicPr>
          <p:cNvPr id="7" name="Image 2" descr="c:\Users\yuanx\CodeBuddy\20260922075003\docs\wiki\screenshots\05-seller-intent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35040" y="1097280"/>
            <a:ext cx="2651760" cy="1657350"/>
          </a:xfrm>
          <a:prstGeom prst="rect">
            <a:avLst/>
          </a:prstGeom>
        </p:spPr>
      </p:pic>
      <p:sp>
        <p:nvSpPr>
          <p:cNvPr id="8" name="Text 3"/>
          <p:cNvSpPr/>
          <p:nvPr/>
        </p:nvSpPr>
        <p:spPr>
          <a:xfrm>
            <a:off x="457200" y="2816352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8E3B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卖家登录</a:t>
            </a:r>
            <a:endParaRPr lang="en-US" sz="950" dirty="0"/>
          </a:p>
        </p:txBody>
      </p:sp>
      <p:sp>
        <p:nvSpPr>
          <p:cNvPr id="9" name="Text 4"/>
          <p:cNvSpPr/>
          <p:nvPr/>
        </p:nvSpPr>
        <p:spPr>
          <a:xfrm>
            <a:off x="3246120" y="2816352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8E3B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商品管理（单品单卖）</a:t>
            </a:r>
            <a:endParaRPr lang="en-US" sz="950" dirty="0"/>
          </a:p>
        </p:txBody>
      </p:sp>
      <p:sp>
        <p:nvSpPr>
          <p:cNvPr id="10" name="Text 5"/>
          <p:cNvSpPr/>
          <p:nvPr/>
        </p:nvSpPr>
        <p:spPr>
          <a:xfrm>
            <a:off x="6035040" y="2816352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8E3B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意向管理（排队 1/2/3）</a:t>
            </a:r>
            <a:endParaRPr lang="en-US" sz="950" dirty="0"/>
          </a:p>
        </p:txBody>
      </p:sp>
      <p:sp>
        <p:nvSpPr>
          <p:cNvPr id="11" name="Shape 6"/>
          <p:cNvSpPr/>
          <p:nvPr/>
        </p:nvSpPr>
        <p:spPr>
          <a:xfrm>
            <a:off x="457200" y="3200400"/>
            <a:ext cx="8229600" cy="1097280"/>
          </a:xfrm>
          <a:prstGeom prst="rect">
            <a:avLst/>
          </a:prstGeom>
          <a:solidFill>
            <a:srgbClr val="E7E8D1"/>
          </a:solidFill>
          <a:ln/>
        </p:spPr>
      </p:sp>
      <p:sp>
        <p:nvSpPr>
          <p:cNvPr id="12" name="Text 7"/>
          <p:cNvSpPr/>
          <p:nvPr/>
        </p:nvSpPr>
        <p:spPr>
          <a:xfrm>
            <a:off x="658368" y="3200400"/>
            <a:ext cx="7863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B26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意向管理里真实提交了 3 条测试意向（Buyer1/2/3），位次 1/2/3；界面明确提示「卖家端不展示口令码」——这是需求里很关键的一条隐私约束。</a:t>
            </a:r>
            <a:endParaRPr lang="en-US" sz="1000" dirty="0"/>
          </a:p>
        </p:txBody>
      </p:sp>
      <p:sp>
        <p:nvSpPr>
          <p:cNvPr id="13" name="Text 8"/>
          <p:cNvSpPr/>
          <p:nvPr/>
        </p:nvSpPr>
        <p:spPr>
          <a:xfrm>
            <a:off x="8412480" y="4617720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BF8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"/>
          </a:xfrm>
          <a:prstGeom prst="rect">
            <a:avLst/>
          </a:prstGeom>
          <a:solidFill>
            <a:srgbClr val="B85042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37744"/>
            <a:ext cx="8229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B26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演示视频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69494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已通过 Git LFS 归档至仓库，可在 GitHub 直接观看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3977640" cy="2011680"/>
          </a:xfrm>
          <a:prstGeom prst="rect">
            <a:avLst/>
          </a:prstGeom>
          <a:solidFill>
            <a:srgbClr val="FFFFFF"/>
          </a:solidFill>
          <a:ln w="9525">
            <a:solidFill>
              <a:srgbClr val="E3DDD4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188720"/>
            <a:ext cx="64008" cy="2011680"/>
          </a:xfrm>
          <a:prstGeom prst="rect">
            <a:avLst/>
          </a:prstGeom>
          <a:solidFill>
            <a:srgbClr val="B85042"/>
          </a:solidFill>
          <a:ln/>
        </p:spPr>
      </p:sp>
      <p:sp>
        <p:nvSpPr>
          <p:cNvPr id="7" name="Text 5"/>
          <p:cNvSpPr/>
          <p:nvPr/>
        </p:nvSpPr>
        <p:spPr>
          <a:xfrm>
            <a:off x="658368" y="1298448"/>
            <a:ext cx="3648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B26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视频信息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658368" y="1609344"/>
            <a:ext cx="364845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50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4A42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文件：docs/media/sprint1-demo.mp4</a:t>
            </a:r>
            <a:endParaRPr lang="en-US" sz="1050" dirty="0"/>
          </a:p>
          <a:p>
            <a:pPr marL="342900" indent="-342900">
              <a:lnSpc>
                <a:spcPct val="1050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4A42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大小：112.8 MB（Git LFS 托管）</a:t>
            </a:r>
            <a:endParaRPr lang="en-US" sz="1050" dirty="0"/>
          </a:p>
          <a:p>
            <a:pPr marL="342900" indent="-342900">
              <a:lnSpc>
                <a:spcPct val="1050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4A42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内容：完整走查核心交易闭环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709160" y="1188720"/>
            <a:ext cx="3977640" cy="2011680"/>
          </a:xfrm>
          <a:prstGeom prst="rect">
            <a:avLst/>
          </a:prstGeom>
          <a:solidFill>
            <a:srgbClr val="FFFFFF"/>
          </a:solidFill>
          <a:ln w="9525">
            <a:solidFill>
              <a:srgbClr val="E3DDD4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709160" y="1188720"/>
            <a:ext cx="64008" cy="2011680"/>
          </a:xfrm>
          <a:prstGeom prst="rect">
            <a:avLst/>
          </a:prstGeom>
          <a:solidFill>
            <a:srgbClr val="8E3B33"/>
          </a:solidFill>
          <a:ln/>
        </p:spPr>
      </p:sp>
      <p:sp>
        <p:nvSpPr>
          <p:cNvPr id="11" name="Text 9"/>
          <p:cNvSpPr/>
          <p:nvPr/>
        </p:nvSpPr>
        <p:spPr>
          <a:xfrm>
            <a:off x="4910328" y="1298448"/>
            <a:ext cx="3648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B26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观看方式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4910328" y="1609344"/>
            <a:ext cx="364845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50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4A42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GitHub 仓库内直接打开播放</a:t>
            </a:r>
            <a:endParaRPr lang="en-US" sz="1050" dirty="0"/>
          </a:p>
          <a:p>
            <a:pPr marL="342900" indent="-342900">
              <a:lnSpc>
                <a:spcPct val="1050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4A42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或使用 media 直链下载 / 播放</a:t>
            </a:r>
            <a:endParaRPr lang="en-US" sz="1050" dirty="0"/>
          </a:p>
          <a:p>
            <a:pPr marL="342900" indent="-342900">
              <a:lnSpc>
                <a:spcPct val="1050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4A42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Wiki 第二次评审页已挂链接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57200" y="3383280"/>
            <a:ext cx="8229600" cy="548640"/>
          </a:xfrm>
          <a:prstGeom prst="rect">
            <a:avLst/>
          </a:prstGeom>
          <a:solidFill>
            <a:srgbClr val="2B2622"/>
          </a:solidFill>
          <a:ln/>
        </p:spPr>
      </p:sp>
      <p:sp>
        <p:nvSpPr>
          <p:cNvPr id="14" name="Text 12"/>
          <p:cNvSpPr/>
          <p:nvPr/>
        </p:nvSpPr>
        <p:spPr>
          <a:xfrm>
            <a:off x="621792" y="338328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7BEA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https://github.com/kaskk345/pingxixi-online-shoppingplatform/blob/main/docs/media/sprint1-demo.mp4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457200" y="40690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同一链接已写入 GitHub Wiki「第 2 次阶段性评审报告」2.3 节。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8412480" y="4617720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BF8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"/>
          </a:xfrm>
          <a:prstGeom prst="rect">
            <a:avLst/>
          </a:prstGeom>
          <a:solidFill>
            <a:srgbClr val="A7BEAE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37744"/>
            <a:ext cx="8229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B26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任务完成情况（更新）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69494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第一次评审 15 项任务已完成，本次补充验证工作</a:t>
            </a:r>
            <a:endParaRPr lang="en-US" sz="11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34440"/>
          <a:ext cx="822960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3931920"/>
                <a:gridCol w="256032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完成人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8E7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本次补充工作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8E7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成果物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8E7B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B26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戴英杰（测试）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B26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对运行态复测接口自检，输出 14 项全过结论；补充 5 张 UI 截图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B26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本报告、docs/wiki/screenshots/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B26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何易（文档/组长）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B26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在测试说明中新增界面截图章节；整理第二次评审报告与 Wiki 页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B26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测试用例与运行说明（第六章）、本报告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457200" y="3063240"/>
            <a:ext cx="8229600" cy="731520"/>
          </a:xfrm>
          <a:prstGeom prst="rect">
            <a:avLst/>
          </a:prstGeom>
          <a:solidFill>
            <a:srgbClr val="E7E8D1"/>
          </a:solidFill>
          <a:ln/>
        </p:spPr>
      </p:sp>
      <p:sp>
        <p:nvSpPr>
          <p:cNvPr id="7" name="Text 4"/>
          <p:cNvSpPr/>
          <p:nvPr/>
        </p:nvSpPr>
        <p:spPr>
          <a:xfrm>
            <a:off x="658368" y="306324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26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口径说明：</a:t>
            </a:r>
            <a:pPr indent="0" marL="0">
              <a:buNone/>
            </a:pPr>
            <a:r>
              <a:rPr lang="en-US" sz="1050" dirty="0">
                <a:solidFill>
                  <a:srgbClr val="2B26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本周为 Sprint 1 收尾验证，不新增功能点；已交付的 15 项任务维持完成状态。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457200" y="3931920"/>
            <a:ext cx="8229600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E3DDD4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658368" y="393192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42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补充产出：5 张界面截图、1 段演示视频（LFS）、第 2 次评审报告（仓库 + Wiki）。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8412480" y="4617720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BF8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"/>
          </a:xfrm>
          <a:prstGeom prst="rect">
            <a:avLst/>
          </a:prstGeom>
          <a:solidFill>
            <a:srgbClr val="8A8178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37744"/>
            <a:ext cx="8229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B26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遗留问题与风险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69494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均为增强项，不影响核心闭环交付</a:t>
            </a:r>
            <a:endParaRPr lang="en-US" sz="11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822960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4114800"/>
                <a:gridCol w="219456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类别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817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现状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817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影响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817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B26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历史商品浏览页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B26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后端已归档，前端浏览页未实现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B26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无历史查看入口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B26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数据统计看板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B26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接口已有，前端未接入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B26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无可视化统计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B26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意向终态命名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B26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VOID 与需求「失败」口径不一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B26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文档/接口需统一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B26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并发压测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B26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同商品并发提交/冻结未压测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B26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高并发正确性未量化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B26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运行录屏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B26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已补 5 张截图，录屏尚未制作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B26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演示材料有缺口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457200" y="3749040"/>
            <a:ext cx="8229600" cy="731520"/>
          </a:xfrm>
          <a:prstGeom prst="rect">
            <a:avLst/>
          </a:prstGeom>
          <a:solidFill>
            <a:srgbClr val="E7E8D1"/>
          </a:solidFill>
          <a:ln/>
        </p:spPr>
      </p:sp>
      <p:sp>
        <p:nvSpPr>
          <p:cNvPr id="7" name="Text 4"/>
          <p:cNvSpPr/>
          <p:nvPr/>
        </p:nvSpPr>
        <p:spPr>
          <a:xfrm>
            <a:off x="658368" y="374904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B26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这些项已写入第二次评审报告的「遗留问题与风险」表，后续是否纳入下一迭代以实际排期为准。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8412480" y="4617720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BF8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"/>
          </a:xfrm>
          <a:prstGeom prst="rect">
            <a:avLst/>
          </a:prstGeom>
          <a:solidFill>
            <a:srgbClr val="6B8E7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37744"/>
            <a:ext cx="8229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B26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挑战升级（A.1 / A.2）· 已实现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69494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2026-10-22 完成实现并通过接口联调（提交 4f2fde7）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3977640" cy="2286000"/>
          </a:xfrm>
          <a:prstGeom prst="rect">
            <a:avLst/>
          </a:prstGeom>
          <a:solidFill>
            <a:srgbClr val="FFFFFF"/>
          </a:solidFill>
          <a:ln w="9525">
            <a:solidFill>
              <a:srgbClr val="E3DDD4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188720"/>
            <a:ext cx="64008" cy="2286000"/>
          </a:xfrm>
          <a:prstGeom prst="rect">
            <a:avLst/>
          </a:prstGeom>
          <a:solidFill>
            <a:srgbClr val="6B8E7B"/>
          </a:solidFill>
          <a:ln/>
        </p:spPr>
      </p:sp>
      <p:sp>
        <p:nvSpPr>
          <p:cNvPr id="7" name="Text 5"/>
          <p:cNvSpPr/>
          <p:nvPr/>
        </p:nvSpPr>
        <p:spPr>
          <a:xfrm>
            <a:off x="658368" y="1298448"/>
            <a:ext cx="3648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B26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A.1 商品管理升级（已实现）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658368" y="1609344"/>
            <a:ext cx="3648456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50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4A42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支持同时发布多个商品</a:t>
            </a:r>
            <a:endParaRPr lang="en-US" sz="1000" dirty="0"/>
          </a:p>
          <a:p>
            <a:pPr marL="342900" indent="-342900">
              <a:lnSpc>
                <a:spcPct val="1050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4A42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商品支持 2 级类别管理</a:t>
            </a:r>
            <a:endParaRPr lang="en-US" sz="1000" dirty="0"/>
          </a:p>
          <a:p>
            <a:pPr marL="342900" indent="-342900">
              <a:lnSpc>
                <a:spcPct val="1050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4A42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每种商品有库存，库存为 0 自动下架</a:t>
            </a:r>
            <a:endParaRPr lang="en-US" sz="1000" dirty="0"/>
          </a:p>
          <a:p>
            <a:pPr marL="342900" indent="-342900">
              <a:lnSpc>
                <a:spcPct val="1050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4A42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可浏览 + 搜索两种方式查找</a:t>
            </a:r>
            <a:endParaRPr lang="en-US" sz="1000" dirty="0"/>
          </a:p>
          <a:p>
            <a:pPr marL="342900" indent="-342900">
              <a:lnSpc>
                <a:spcPct val="1050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4A42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多张商品图片，描述支持富媒体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709160" y="1188720"/>
            <a:ext cx="3977640" cy="2286000"/>
          </a:xfrm>
          <a:prstGeom prst="rect">
            <a:avLst/>
          </a:prstGeom>
          <a:solidFill>
            <a:srgbClr val="FFFFFF"/>
          </a:solidFill>
          <a:ln w="9525">
            <a:solidFill>
              <a:srgbClr val="E3DDD4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709160" y="1188720"/>
            <a:ext cx="64008" cy="2286000"/>
          </a:xfrm>
          <a:prstGeom prst="rect">
            <a:avLst/>
          </a:prstGeom>
          <a:solidFill>
            <a:srgbClr val="6B8E7B"/>
          </a:solidFill>
          <a:ln/>
        </p:spPr>
      </p:sp>
      <p:sp>
        <p:nvSpPr>
          <p:cNvPr id="11" name="Text 9"/>
          <p:cNvSpPr/>
          <p:nvPr/>
        </p:nvSpPr>
        <p:spPr>
          <a:xfrm>
            <a:off x="4910328" y="1298448"/>
            <a:ext cx="3648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B26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A.2 客户升级（已实现）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4910328" y="1609344"/>
            <a:ext cx="3648456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50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4A42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客户自由注册：用户名 / 密码 / 电话 / 默认交易地点</a:t>
            </a:r>
            <a:endParaRPr lang="en-US" sz="1000" dirty="0"/>
          </a:p>
          <a:p>
            <a:pPr marL="342900" indent="-342900">
              <a:lnSpc>
                <a:spcPct val="1050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4A42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客户登录后可查看历史下单记录</a:t>
            </a:r>
            <a:endParaRPr lang="en-US" sz="1000" dirty="0"/>
          </a:p>
          <a:p>
            <a:pPr marL="342900" indent="-342900">
              <a:lnSpc>
                <a:spcPct val="1050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4A42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商家可查看所有注册客户信息</a:t>
            </a:r>
            <a:endParaRPr lang="en-US" sz="1000" dirty="0"/>
          </a:p>
          <a:p>
            <a:pPr marL="342900" indent="-342900">
              <a:lnSpc>
                <a:spcPct val="1050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4A42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商家可查看客户的购买历史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57200" y="3657600"/>
            <a:ext cx="8229600" cy="777240"/>
          </a:xfrm>
          <a:prstGeom prst="rect">
            <a:avLst/>
          </a:prstGeom>
          <a:solidFill>
            <a:srgbClr val="E7E8D1"/>
          </a:solidFill>
          <a:ln/>
        </p:spPr>
      </p:sp>
      <p:sp>
        <p:nvSpPr>
          <p:cNvPr id="14" name="Text 12"/>
          <p:cNvSpPr/>
          <p:nvPr/>
        </p:nvSpPr>
        <p:spPr>
          <a:xfrm>
            <a:off x="658368" y="3657600"/>
            <a:ext cx="7863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B26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实现要点：新增 Category / Customer 实体与客户鉴权；成交扣减库存、库存归零自动下架；首页多商品列表 + 搜索 + 两级分类；详情页多图轮播 + 富媒体；客户注册登录与历史订单；商家客户管理。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8412480" y="4617720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2B26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B85042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84048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评审结论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1097280"/>
            <a:ext cx="2514600" cy="2057400"/>
          </a:xfrm>
          <a:prstGeom prst="rect">
            <a:avLst/>
          </a:prstGeom>
          <a:solidFill>
            <a:srgbClr val="3A332E"/>
          </a:solidFill>
          <a:ln/>
        </p:spPr>
      </p:sp>
      <p:sp>
        <p:nvSpPr>
          <p:cNvPr id="5" name="Shape 3"/>
          <p:cNvSpPr/>
          <p:nvPr/>
        </p:nvSpPr>
        <p:spPr>
          <a:xfrm>
            <a:off x="640080" y="1097280"/>
            <a:ext cx="2514600" cy="54864"/>
          </a:xfrm>
          <a:prstGeom prst="rect">
            <a:avLst/>
          </a:prstGeom>
          <a:solidFill>
            <a:srgbClr val="6B8E7B"/>
          </a:solidFill>
          <a:ln/>
        </p:spPr>
      </p:sp>
      <p:sp>
        <p:nvSpPr>
          <p:cNvPr id="6" name="Text 4"/>
          <p:cNvSpPr/>
          <p:nvPr/>
        </p:nvSpPr>
        <p:spPr>
          <a:xfrm>
            <a:off x="804672" y="1234440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B8E7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已达成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804672" y="1645920"/>
            <a:ext cx="219456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D8D2C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单品单卖与四态状态机</a:t>
            </a:r>
            <a:endParaRPr lang="en-US" sz="10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D8D2C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免注册 + 口令码体系</a:t>
            </a:r>
            <a:endParaRPr lang="en-US" sz="10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D8D2C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先到先得队列与冻结</a:t>
            </a:r>
            <a:endParaRPr lang="en-US" sz="10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D8D2C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成交下架 / 失败恢复</a:t>
            </a:r>
            <a:endParaRPr lang="en-US" sz="10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D8D2C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卖家后台与鉴权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337560" y="1097280"/>
            <a:ext cx="2514600" cy="2057400"/>
          </a:xfrm>
          <a:prstGeom prst="rect">
            <a:avLst/>
          </a:prstGeom>
          <a:solidFill>
            <a:srgbClr val="3A332E"/>
          </a:solidFill>
          <a:ln/>
        </p:spPr>
      </p:sp>
      <p:sp>
        <p:nvSpPr>
          <p:cNvPr id="9" name="Shape 7"/>
          <p:cNvSpPr/>
          <p:nvPr/>
        </p:nvSpPr>
        <p:spPr>
          <a:xfrm>
            <a:off x="3337560" y="1097280"/>
            <a:ext cx="2514600" cy="54864"/>
          </a:xfrm>
          <a:prstGeom prst="rect">
            <a:avLst/>
          </a:prstGeom>
          <a:solidFill>
            <a:srgbClr val="B85042"/>
          </a:solidFill>
          <a:ln/>
        </p:spPr>
      </p:sp>
      <p:sp>
        <p:nvSpPr>
          <p:cNvPr id="10" name="Text 8"/>
          <p:cNvSpPr/>
          <p:nvPr/>
        </p:nvSpPr>
        <p:spPr>
          <a:xfrm>
            <a:off x="3502152" y="1234440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850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验证证据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3502152" y="1645920"/>
            <a:ext cx="219456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D8D2C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接口 14 项断言全过</a:t>
            </a:r>
            <a:endParaRPr lang="en-US" sz="10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D8D2C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 张界面实拍截图</a:t>
            </a:r>
            <a:endParaRPr lang="en-US" sz="10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D8D2C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演示视频已归档</a:t>
            </a:r>
            <a:endParaRPr lang="en-US" sz="10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D8D2C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第二次评审报告</a:t>
            </a:r>
            <a:endParaRPr lang="en-US" sz="10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D8D2C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Wiki 页面已上线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035040" y="1097280"/>
            <a:ext cx="2514600" cy="2057400"/>
          </a:xfrm>
          <a:prstGeom prst="rect">
            <a:avLst/>
          </a:prstGeom>
          <a:solidFill>
            <a:srgbClr val="3A332E"/>
          </a:solidFill>
          <a:ln/>
        </p:spPr>
      </p:sp>
      <p:sp>
        <p:nvSpPr>
          <p:cNvPr id="13" name="Shape 11"/>
          <p:cNvSpPr/>
          <p:nvPr/>
        </p:nvSpPr>
        <p:spPr>
          <a:xfrm>
            <a:off x="6035040" y="1097280"/>
            <a:ext cx="2514600" cy="54864"/>
          </a:xfrm>
          <a:prstGeom prst="rect">
            <a:avLst/>
          </a:prstGeom>
          <a:solidFill>
            <a:srgbClr val="8A6F47"/>
          </a:solidFill>
          <a:ln/>
        </p:spPr>
      </p:sp>
      <p:sp>
        <p:nvSpPr>
          <p:cNvPr id="14" name="Text 12"/>
          <p:cNvSpPr/>
          <p:nvPr/>
        </p:nvSpPr>
        <p:spPr>
          <a:xfrm>
            <a:off x="6199632" y="1234440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A6F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后续关注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199632" y="1645920"/>
            <a:ext cx="219456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D8D2C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历史浏览页前端</a:t>
            </a:r>
            <a:endParaRPr lang="en-US" sz="10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D8D2C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统计看板前端接入</a:t>
            </a:r>
            <a:endParaRPr lang="en-US" sz="10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D8D2C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终态命名口径统一</a:t>
            </a:r>
            <a:endParaRPr lang="en-US" sz="10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D8D2C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并发压测</a:t>
            </a:r>
            <a:endParaRPr lang="en-US" sz="10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D8D2C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运行录屏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40080" y="3657600"/>
            <a:ext cx="7863840" cy="731520"/>
          </a:xfrm>
          <a:prstGeom prst="rect">
            <a:avLst/>
          </a:prstGeom>
          <a:solidFill>
            <a:srgbClr val="3A332E"/>
          </a:solidFill>
          <a:ln/>
        </p:spPr>
      </p:sp>
      <p:sp>
        <p:nvSpPr>
          <p:cNvPr id="17" name="Text 15"/>
          <p:cNvSpPr/>
          <p:nvPr/>
        </p:nvSpPr>
        <p:spPr>
          <a:xfrm>
            <a:off x="822960" y="3657600"/>
            <a:ext cx="7498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B850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一句话总结：</a:t>
            </a:r>
            <a:pPr indent="0" marL="0">
              <a:buNone/>
            </a:pPr>
            <a:r>
              <a:rPr lang="en-US" sz="1150" dirty="0">
                <a:solidFill>
                  <a:srgbClr val="D8D2C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Sprint 1 的单品单卖闭环已完整实现并实测通过，八项目标全部达成，本周以复测与证据补齐正式收尾。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640080" y="452628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79E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感谢聆听 · 欢迎提问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第二周 · 第二次阶段性评审（讲述版）</dc:title>
  <dc:subject>PptxGenJS Presentation</dc:subject>
  <dc:creator>pingxixi 项目组</dc:creator>
  <cp:lastModifiedBy>pingxixi 项目组</cp:lastModifiedBy>
  <cp:revision>1</cp:revision>
  <dcterms:created xsi:type="dcterms:W3CDTF">2026-10-22T00:48:09Z</dcterms:created>
  <dcterms:modified xsi:type="dcterms:W3CDTF">2026-10-22T00:48:09Z</dcterms:modified>
</cp:coreProperties>
</file>